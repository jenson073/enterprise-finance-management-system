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1"/>
  </p:notesMasterIdLst>
  <p:handoutMasterIdLst>
    <p:handoutMasterId r:id="rId12"/>
  </p:handoutMasterIdLst>
  <p:sldIdLst>
    <p:sldId id="314" r:id="rId5"/>
    <p:sldId id="315" r:id="rId6"/>
    <p:sldId id="316" r:id="rId7"/>
    <p:sldId id="318" r:id="rId8"/>
    <p:sldId id="320" r:id="rId9"/>
    <p:sldId id="30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p:cViewPr varScale="1">
        <p:scale>
          <a:sx n="102" d="100"/>
          <a:sy n="102" d="100"/>
        </p:scale>
        <p:origin x="954" y="96"/>
      </p:cViewPr>
      <p:guideLst>
        <p:guide orient="horz" pos="3360"/>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2/16/2026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2/16/2026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169896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3528550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631242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3555126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2429966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4996-9779-1D0F-B5C6-7FE85FFF1EF4}"/>
              </a:ext>
            </a:extLst>
          </p:cNvPr>
          <p:cNvSpPr>
            <a:spLocks noGrp="1"/>
          </p:cNvSpPr>
          <p:nvPr>
            <p:ph type="title" hasCustomPrompt="1"/>
          </p:nvPr>
        </p:nvSpPr>
        <p:spPr>
          <a:xfrm>
            <a:off x="6096000" y="2773681"/>
            <a:ext cx="5674360" cy="3200400"/>
          </a:xfrm>
        </p:spPr>
        <p:txBody>
          <a:bodyPr anchor="b">
            <a:normAutofit/>
          </a:bodyPr>
          <a:lstStyle>
            <a:lvl1pPr>
              <a:defRPr sz="4800">
                <a:solidFill>
                  <a:schemeClr val="bg1"/>
                </a:solidFill>
              </a:defRPr>
            </a:lvl1pPr>
          </a:lstStyle>
          <a:p>
            <a:r>
              <a:rPr lang="en-US" dirty="0"/>
              <a:t>Click to add title</a:t>
            </a:r>
          </a:p>
        </p:txBody>
      </p:sp>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454" t="1728"/>
          <a:stretch/>
        </p:blipFill>
        <p:spPr>
          <a:xfrm>
            <a:off x="-1" y="0"/>
            <a:ext cx="8264995" cy="5320146"/>
          </a:xfrm>
          <a:prstGeom prst="rect">
            <a:avLst/>
          </a:prstGeom>
        </p:spPr>
      </p:pic>
    </p:spTree>
    <p:extLst>
      <p:ext uri="{BB962C8B-B14F-4D97-AF65-F5344CB8AC3E}">
        <p14:creationId xmlns:p14="http://schemas.microsoft.com/office/powerpoint/2010/main" val="381084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3875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73678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365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1521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left Image 1">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endParaRPr lang="en-US" dirty="0"/>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9111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1779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82813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right Image">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dirty="0"/>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346700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dirty="0"/>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5621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3">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1984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endParaRPr lang="en-US" dirty="0"/>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6384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dirty="0"/>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06"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0D96-BFFB-05BD-30ED-0352500CD058}"/>
              </a:ext>
            </a:extLst>
          </p:cNvPr>
          <p:cNvSpPr>
            <a:spLocks noGrp="1"/>
          </p:cNvSpPr>
          <p:nvPr>
            <p:ph type="title"/>
          </p:nvPr>
        </p:nvSpPr>
        <p:spPr>
          <a:xfrm>
            <a:off x="8839200" y="5669279"/>
            <a:ext cx="4949952" cy="816865"/>
          </a:xfrm>
        </p:spPr>
        <p:txBody>
          <a:bodyPr>
            <a:normAutofit/>
          </a:bodyPr>
          <a:lstStyle/>
          <a:p>
            <a:r>
              <a:rPr lang="en-US" sz="3200" dirty="0"/>
              <a:t>Jenson J</a:t>
            </a:r>
          </a:p>
        </p:txBody>
      </p:sp>
      <p:sp>
        <p:nvSpPr>
          <p:cNvPr id="3" name="TextBox 2">
            <a:extLst>
              <a:ext uri="{FF2B5EF4-FFF2-40B4-BE49-F238E27FC236}">
                <a16:creationId xmlns:a16="http://schemas.microsoft.com/office/drawing/2014/main" id="{CE425219-6A9C-B22C-1CA9-97EAA1409FC3}"/>
              </a:ext>
            </a:extLst>
          </p:cNvPr>
          <p:cNvSpPr txBox="1"/>
          <p:nvPr/>
        </p:nvSpPr>
        <p:spPr>
          <a:xfrm>
            <a:off x="1217676" y="2545686"/>
            <a:ext cx="9756648" cy="1323439"/>
          </a:xfrm>
          <a:prstGeom prst="rect">
            <a:avLst/>
          </a:prstGeom>
          <a:noFill/>
        </p:spPr>
        <p:txBody>
          <a:bodyPr wrap="square" rtlCol="0">
            <a:spAutoFit/>
          </a:bodyPr>
          <a:lstStyle/>
          <a:p>
            <a:r>
              <a:rPr lang="en-US" sz="4000" dirty="0">
                <a:solidFill>
                  <a:schemeClr val="bg1"/>
                </a:solidFill>
              </a:rPr>
              <a:t>Project Title: Enterprise financial payments and Document Management System</a:t>
            </a:r>
            <a:endParaRPr lang="en-IN" sz="4000" dirty="0">
              <a:solidFill>
                <a:schemeClr val="bg1"/>
              </a:solidFill>
            </a:endParaRP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74D05E-8A36-8D9F-519E-DB514A69D886}"/>
              </a:ext>
            </a:extLst>
          </p:cNvPr>
          <p:cNvSpPr>
            <a:spLocks noGrp="1"/>
          </p:cNvSpPr>
          <p:nvPr>
            <p:ph type="title"/>
          </p:nvPr>
        </p:nvSpPr>
        <p:spPr>
          <a:xfrm>
            <a:off x="914400" y="315533"/>
            <a:ext cx="4370832" cy="644587"/>
          </a:xfrm>
        </p:spPr>
        <p:txBody>
          <a:bodyPr/>
          <a:lstStyle/>
          <a:p>
            <a:r>
              <a:rPr lang="en-US" dirty="0"/>
              <a:t>Problem statement</a:t>
            </a:r>
          </a:p>
        </p:txBody>
      </p:sp>
      <p:sp>
        <p:nvSpPr>
          <p:cNvPr id="4" name="Content Placeholder 3">
            <a:extLst>
              <a:ext uri="{FF2B5EF4-FFF2-40B4-BE49-F238E27FC236}">
                <a16:creationId xmlns:a16="http://schemas.microsoft.com/office/drawing/2014/main" id="{B20C1E08-E337-110E-DB8E-41BA4A3341A1}"/>
              </a:ext>
            </a:extLst>
          </p:cNvPr>
          <p:cNvSpPr>
            <a:spLocks noGrp="1"/>
          </p:cNvSpPr>
          <p:nvPr>
            <p:ph sz="quarter" idx="10"/>
          </p:nvPr>
        </p:nvSpPr>
        <p:spPr>
          <a:xfrm>
            <a:off x="914400" y="1143001"/>
            <a:ext cx="5742432" cy="4828032"/>
          </a:xfrm>
        </p:spPr>
        <p:txBody>
          <a:bodyPr>
            <a:normAutofit/>
          </a:bodyPr>
          <a:lstStyle/>
          <a:p>
            <a:r>
              <a:rPr lang="en-US" dirty="0"/>
              <a:t>Managing company financial transactions is often inefficient and insecure when handled by everyone or using scattered tools, which can lead to errors, data loss, and lack of security. There is often no centralized system to store transaction details along with supporting documents like invoices or receipts. This makes tracking payments, due dates, and transaction history difficult. Therefore, there is a need for a secure and efficient digital system to manage and organize financial transactions effectively.</a:t>
            </a:r>
          </a:p>
          <a:p>
            <a:endParaRPr lang="en-US" dirty="0"/>
          </a:p>
        </p:txBody>
      </p:sp>
      <p:sp>
        <p:nvSpPr>
          <p:cNvPr id="2" name="Slide Number Placeholder 1">
            <a:extLst>
              <a:ext uri="{FF2B5EF4-FFF2-40B4-BE49-F238E27FC236}">
                <a16:creationId xmlns:a16="http://schemas.microsoft.com/office/drawing/2014/main" id="{00255621-1D81-03E6-507B-CB20E070356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542059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FD5F-786B-1974-5F47-94CA02CFA6E5}"/>
              </a:ext>
            </a:extLst>
          </p:cNvPr>
          <p:cNvSpPr>
            <a:spLocks noGrp="1"/>
          </p:cNvSpPr>
          <p:nvPr>
            <p:ph type="title"/>
          </p:nvPr>
        </p:nvSpPr>
        <p:spPr>
          <a:xfrm>
            <a:off x="310896" y="212345"/>
            <a:ext cx="6428232" cy="912368"/>
          </a:xfrm>
        </p:spPr>
        <p:txBody>
          <a:bodyPr>
            <a:normAutofit/>
          </a:bodyPr>
          <a:lstStyle/>
          <a:p>
            <a:r>
              <a:rPr lang="en-US" sz="3200" dirty="0"/>
              <a:t>Proposed solution</a:t>
            </a:r>
          </a:p>
        </p:txBody>
      </p:sp>
      <p:pic>
        <p:nvPicPr>
          <p:cNvPr id="14" name="Picture Placeholder 13" descr="A person looking at a piece of paper">
            <a:extLst>
              <a:ext uri="{FF2B5EF4-FFF2-40B4-BE49-F238E27FC236}">
                <a16:creationId xmlns:a16="http://schemas.microsoft.com/office/drawing/2014/main" id="{F28819F3-7D3B-EB42-24FD-3C0BBC5963B5}"/>
              </a:ext>
            </a:extLst>
          </p:cNvPr>
          <p:cNvPicPr>
            <a:picLocks noGrp="1" noChangeAspect="1"/>
          </p:cNvPicPr>
          <p:nvPr>
            <p:ph type="pic" sz="quarter" idx="10"/>
          </p:nvPr>
        </p:nvPicPr>
        <p:blipFill>
          <a:blip r:embed="rId3"/>
          <a:srcRect t="119" b="119"/>
          <a:stretch/>
        </p:blipFill>
        <p:spPr>
          <a:xfrm>
            <a:off x="6085840" y="-10159"/>
            <a:ext cx="6116320" cy="6868160"/>
          </a:xfrm>
        </p:spPr>
      </p:pic>
      <p:sp>
        <p:nvSpPr>
          <p:cNvPr id="3" name="TextBox 2">
            <a:extLst>
              <a:ext uri="{FF2B5EF4-FFF2-40B4-BE49-F238E27FC236}">
                <a16:creationId xmlns:a16="http://schemas.microsoft.com/office/drawing/2014/main" id="{B36A34AD-20FE-3C87-F199-F22C91DBE627}"/>
              </a:ext>
            </a:extLst>
          </p:cNvPr>
          <p:cNvSpPr txBox="1"/>
          <p:nvPr/>
        </p:nvSpPr>
        <p:spPr>
          <a:xfrm>
            <a:off x="237744" y="1581912"/>
            <a:ext cx="6428232" cy="4093428"/>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rPr>
              <a:t>To address these challenges, a web-based Financial Transaction Management System is developed to provide a secure and centralized platform for managing company transactions. </a:t>
            </a:r>
          </a:p>
          <a:p>
            <a:pPr marL="342900" indent="-342900">
              <a:buFont typeface="Arial" panose="020B0604020202020204" pitchFamily="34" charset="0"/>
              <a:buChar char="•"/>
            </a:pPr>
            <a:r>
              <a:rPr lang="en-US" sz="2000" dirty="0">
                <a:solidFill>
                  <a:schemeClr val="bg1"/>
                </a:solidFill>
              </a:rPr>
              <a:t>The system allows authorized finance managers to add, update, delete, and track financial transactions efficiently and allows users to only view the completed transactions of the Enterprise. </a:t>
            </a:r>
          </a:p>
          <a:p>
            <a:pPr marL="342900" indent="-342900">
              <a:buFont typeface="Arial" panose="020B0604020202020204" pitchFamily="34" charset="0"/>
              <a:buChar char="•"/>
            </a:pPr>
            <a:r>
              <a:rPr lang="en-US" sz="2000" dirty="0">
                <a:solidFill>
                  <a:schemeClr val="bg1"/>
                </a:solidFill>
              </a:rPr>
              <a:t>It also enables uploading and downloading supporting documents such as invoices and receipts. </a:t>
            </a:r>
          </a:p>
          <a:p>
            <a:pPr marL="342900" indent="-342900">
              <a:buFont typeface="Arial" panose="020B0604020202020204" pitchFamily="34" charset="0"/>
              <a:buChar char="•"/>
            </a:pPr>
            <a:r>
              <a:rPr lang="en-US" sz="2000" dirty="0">
                <a:solidFill>
                  <a:schemeClr val="bg1"/>
                </a:solidFill>
              </a:rPr>
              <a:t>The application ensures data security through JWT-based authentication and encrypted password storage.</a:t>
            </a:r>
            <a:endParaRPr lang="en-IN" sz="2000" dirty="0">
              <a:solidFill>
                <a:schemeClr val="bg1"/>
              </a:solidFill>
            </a:endParaRPr>
          </a:p>
        </p:txBody>
      </p:sp>
    </p:spTree>
    <p:extLst>
      <p:ext uri="{BB962C8B-B14F-4D97-AF65-F5344CB8AC3E}">
        <p14:creationId xmlns:p14="http://schemas.microsoft.com/office/powerpoint/2010/main" val="4293742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E4F0B-A6EB-861C-1C34-CAA9BDE47858}"/>
              </a:ext>
            </a:extLst>
          </p:cNvPr>
          <p:cNvSpPr>
            <a:spLocks noGrp="1"/>
          </p:cNvSpPr>
          <p:nvPr>
            <p:ph type="title"/>
          </p:nvPr>
        </p:nvSpPr>
        <p:spPr/>
        <p:txBody>
          <a:bodyPr/>
          <a:lstStyle/>
          <a:p>
            <a:r>
              <a:rPr lang="en-US" dirty="0"/>
              <a:t>objectives</a:t>
            </a:r>
            <a:r>
              <a:rPr lang="en-US" sz="3200" dirty="0"/>
              <a:t> </a:t>
            </a:r>
          </a:p>
        </p:txBody>
      </p:sp>
      <p:sp>
        <p:nvSpPr>
          <p:cNvPr id="3" name="Content Placeholder 2">
            <a:extLst>
              <a:ext uri="{FF2B5EF4-FFF2-40B4-BE49-F238E27FC236}">
                <a16:creationId xmlns:a16="http://schemas.microsoft.com/office/drawing/2014/main" id="{59F97739-E0DF-24F3-7886-013A799A52C3}"/>
              </a:ext>
            </a:extLst>
          </p:cNvPr>
          <p:cNvSpPr>
            <a:spLocks noGrp="1"/>
          </p:cNvSpPr>
          <p:nvPr>
            <p:ph sz="quarter" idx="10"/>
          </p:nvPr>
        </p:nvSpPr>
        <p:spPr>
          <a:xfrm>
            <a:off x="914398" y="2011363"/>
            <a:ext cx="9939529" cy="4124261"/>
          </a:xfrm>
        </p:spPr>
        <p:txBody>
          <a:bodyPr>
            <a:normAutofit fontScale="85000" lnSpcReduction="20000"/>
          </a:bodyPr>
          <a:lstStyle/>
          <a:p>
            <a:pPr marL="228600" indent="-228600">
              <a:spcBef>
                <a:spcPts val="0"/>
              </a:spcBef>
              <a:spcAft>
                <a:spcPts val="1200"/>
              </a:spcAft>
              <a:buFont typeface="Arial" panose="020B0604020202020204" pitchFamily="34" charset="0"/>
              <a:buChar char="•"/>
            </a:pPr>
            <a:r>
              <a:rPr lang="en-US" sz="2000" cap="none" dirty="0">
                <a:cs typeface="Calibri"/>
              </a:rPr>
              <a:t>To develop a centralized finance management system that allows </a:t>
            </a:r>
            <a:r>
              <a:rPr lang="en-US" dirty="0">
                <a:cs typeface="Calibri"/>
              </a:rPr>
              <a:t>only the</a:t>
            </a:r>
            <a:r>
              <a:rPr lang="en-US" sz="2000" cap="none" dirty="0">
                <a:cs typeface="Calibri"/>
              </a:rPr>
              <a:t> finance manager to manage all transaction operations securely using authenticated credentials.</a:t>
            </a:r>
          </a:p>
          <a:p>
            <a:pPr marL="228600" indent="-228600">
              <a:spcBef>
                <a:spcPts val="0"/>
              </a:spcBef>
              <a:spcAft>
                <a:spcPts val="1200"/>
              </a:spcAft>
              <a:buFont typeface="Arial" panose="020B0604020202020204" pitchFamily="34" charset="0"/>
              <a:buChar char="•"/>
            </a:pPr>
            <a:r>
              <a:rPr lang="en-US" sz="2000" cap="none" dirty="0">
                <a:cs typeface="Calibri"/>
              </a:rPr>
              <a:t>To use a role-based access to limit other users of the Enterprise to only view the completed transactions of the Enterprise.</a:t>
            </a:r>
          </a:p>
          <a:p>
            <a:pPr marL="228600" indent="-228600">
              <a:spcBef>
                <a:spcPts val="0"/>
              </a:spcBef>
              <a:spcAft>
                <a:spcPts val="1200"/>
              </a:spcAft>
              <a:buFont typeface="Arial" panose="020B0604020202020204" pitchFamily="34" charset="0"/>
              <a:buChar char="•"/>
            </a:pPr>
            <a:r>
              <a:rPr lang="en-US" sz="2000" cap="none" dirty="0">
                <a:cs typeface="Calibri"/>
              </a:rPr>
              <a:t>To implement a secure authentication mechanism using JWT and store authentication tokens in HTTP-only cookies to prevent unauthorized access.</a:t>
            </a:r>
          </a:p>
          <a:p>
            <a:pPr marL="228600" indent="-228600">
              <a:spcBef>
                <a:spcPts val="0"/>
              </a:spcBef>
              <a:spcAft>
                <a:spcPts val="1200"/>
              </a:spcAft>
              <a:buFont typeface="Arial" panose="020B0604020202020204" pitchFamily="34" charset="0"/>
              <a:buChar char="•"/>
            </a:pPr>
            <a:r>
              <a:rPr lang="en-US" sz="2000" cap="none" dirty="0">
                <a:cs typeface="Calibri"/>
              </a:rPr>
              <a:t>To design an analytics dashboard that provides insights and monitoring of financial transaction data.</a:t>
            </a:r>
          </a:p>
          <a:p>
            <a:pPr marL="228600" indent="-228600">
              <a:spcBef>
                <a:spcPts val="0"/>
              </a:spcBef>
              <a:spcAft>
                <a:spcPts val="1200"/>
              </a:spcAft>
              <a:buFont typeface="Arial" panose="020B0604020202020204" pitchFamily="34" charset="0"/>
              <a:buChar char="•"/>
            </a:pPr>
            <a:r>
              <a:rPr lang="en-US" sz="2000" cap="none" dirty="0">
                <a:cs typeface="Calibri"/>
              </a:rPr>
              <a:t>To develop a transaction management module that allows viewing complete transaction history and performing CRUD (Create, Read, Update, Delete) operations.</a:t>
            </a:r>
          </a:p>
          <a:p>
            <a:pPr marL="228600" indent="-228600">
              <a:spcBef>
                <a:spcPts val="0"/>
              </a:spcBef>
              <a:spcAft>
                <a:spcPts val="1200"/>
              </a:spcAft>
              <a:buFont typeface="Arial" panose="020B0604020202020204" pitchFamily="34" charset="0"/>
              <a:buChar char="•"/>
            </a:pPr>
            <a:r>
              <a:rPr lang="en-US" sz="2000" cap="none" dirty="0">
                <a:cs typeface="Calibri"/>
              </a:rPr>
              <a:t>To develop a pending payments module that displays all pending and overdue transactions for better payment tracking.</a:t>
            </a:r>
          </a:p>
          <a:p>
            <a:pPr marL="228600" indent="-228600">
              <a:spcBef>
                <a:spcPts val="0"/>
              </a:spcBef>
              <a:spcAft>
                <a:spcPts val="1200"/>
              </a:spcAft>
              <a:buFont typeface="Arial" panose="020B0604020202020204" pitchFamily="34" charset="0"/>
              <a:buChar char="•"/>
            </a:pPr>
            <a:r>
              <a:rPr lang="en-US" sz="2000" cap="none" dirty="0">
                <a:cs typeface="Calibri"/>
              </a:rPr>
              <a:t>To implement an alerts system that notifies transactions that are approaching their due date within one month.</a:t>
            </a:r>
          </a:p>
          <a:p>
            <a:pPr marL="228600" indent="-228600">
              <a:spcBef>
                <a:spcPts val="0"/>
              </a:spcBef>
              <a:spcAft>
                <a:spcPts val="1200"/>
              </a:spcAft>
              <a:buFont typeface="Arial" panose="020B0604020202020204" pitchFamily="34" charset="0"/>
              <a:buChar char="•"/>
            </a:pPr>
            <a:r>
              <a:rPr lang="en-US" sz="2000" cap="none" dirty="0">
                <a:cs typeface="Calibri"/>
              </a:rPr>
              <a:t>To ensure secure credential management by allowing password updates and storing passwords securely using </a:t>
            </a:r>
            <a:r>
              <a:rPr lang="en-US" sz="2000" cap="none" dirty="0" err="1">
                <a:cs typeface="Calibri"/>
              </a:rPr>
              <a:t>BCrypt</a:t>
            </a:r>
            <a:r>
              <a:rPr lang="en-US" sz="2000" cap="none" dirty="0">
                <a:cs typeface="Calibri"/>
              </a:rPr>
              <a:t> encryption.</a:t>
            </a:r>
          </a:p>
        </p:txBody>
      </p:sp>
      <p:sp>
        <p:nvSpPr>
          <p:cNvPr id="4" name="Slide Number Placeholder 3">
            <a:extLst>
              <a:ext uri="{FF2B5EF4-FFF2-40B4-BE49-F238E27FC236}">
                <a16:creationId xmlns:a16="http://schemas.microsoft.com/office/drawing/2014/main" id="{6FE0D061-7327-A55C-AF6A-A95C24DD8B72}"/>
              </a:ext>
            </a:extLst>
          </p:cNvPr>
          <p:cNvSpPr>
            <a:spLocks noGrp="1"/>
          </p:cNvSpPr>
          <p:nvPr>
            <p:ph type="sldNum" sz="quarter" idx="4"/>
          </p:nvPr>
        </p:nvSpPr>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412000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D586-3F7C-3202-E4F4-1F65B9A7D428}"/>
              </a:ext>
            </a:extLst>
          </p:cNvPr>
          <p:cNvSpPr>
            <a:spLocks noGrp="1"/>
          </p:cNvSpPr>
          <p:nvPr>
            <p:ph type="title"/>
          </p:nvPr>
        </p:nvSpPr>
        <p:spPr>
          <a:xfrm>
            <a:off x="0" y="-499269"/>
            <a:ext cx="10363201" cy="1629601"/>
          </a:xfrm>
        </p:spPr>
        <p:txBody>
          <a:bodyPr/>
          <a:lstStyle/>
          <a:p>
            <a:r>
              <a:rPr lang="en-US" dirty="0"/>
              <a:t>Workflow</a:t>
            </a:r>
          </a:p>
        </p:txBody>
      </p:sp>
      <p:sp>
        <p:nvSpPr>
          <p:cNvPr id="5" name="Slide Number Placeholder 4">
            <a:extLst>
              <a:ext uri="{FF2B5EF4-FFF2-40B4-BE49-F238E27FC236}">
                <a16:creationId xmlns:a16="http://schemas.microsoft.com/office/drawing/2014/main" id="{FD4FFC83-A1E8-FCEA-2C47-38C5ADAEA1C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5</a:t>
            </a:fld>
            <a:endParaRPr lang="en-US" dirty="0"/>
          </a:p>
        </p:txBody>
      </p:sp>
      <p:pic>
        <p:nvPicPr>
          <p:cNvPr id="4" name="Picture 3">
            <a:extLst>
              <a:ext uri="{FF2B5EF4-FFF2-40B4-BE49-F238E27FC236}">
                <a16:creationId xmlns:a16="http://schemas.microsoft.com/office/drawing/2014/main" id="{3D478ACE-A61D-F1C4-15ED-94F319E8224A}"/>
              </a:ext>
            </a:extLst>
          </p:cNvPr>
          <p:cNvPicPr>
            <a:picLocks noChangeAspect="1"/>
          </p:cNvPicPr>
          <p:nvPr/>
        </p:nvPicPr>
        <p:blipFill>
          <a:blip r:embed="rId3"/>
          <a:stretch>
            <a:fillRect/>
          </a:stretch>
        </p:blipFill>
        <p:spPr>
          <a:xfrm>
            <a:off x="844845" y="571057"/>
            <a:ext cx="10502310" cy="6234472"/>
          </a:xfrm>
          <a:prstGeom prst="rect">
            <a:avLst/>
          </a:prstGeom>
        </p:spPr>
      </p:pic>
    </p:spTree>
    <p:extLst>
      <p:ext uri="{BB962C8B-B14F-4D97-AF65-F5344CB8AC3E}">
        <p14:creationId xmlns:p14="http://schemas.microsoft.com/office/powerpoint/2010/main" val="430403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77B52831-0916-294C-0ACB-9774B9805D9B}"/>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4151" r="18577"/>
          <a:stretch/>
        </p:blipFill>
        <p:spPr>
          <a:xfrm flipH="1">
            <a:off x="0" y="0"/>
            <a:ext cx="5181600" cy="6858000"/>
          </a:xfrm>
          <a:prstGeom prst="rect">
            <a:avLst/>
          </a:prstGeom>
        </p:spPr>
      </p:pic>
      <p:sp>
        <p:nvSpPr>
          <p:cNvPr id="7" name="Title 6">
            <a:extLst>
              <a:ext uri="{FF2B5EF4-FFF2-40B4-BE49-F238E27FC236}">
                <a16:creationId xmlns:a16="http://schemas.microsoft.com/office/drawing/2014/main" id="{E82E216E-9EE0-9D3F-D692-083F575A3D04}"/>
              </a:ext>
            </a:extLst>
          </p:cNvPr>
          <p:cNvSpPr>
            <a:spLocks noGrp="1"/>
          </p:cNvSpPr>
          <p:nvPr>
            <p:ph type="title"/>
          </p:nvPr>
        </p:nvSpPr>
        <p:spPr>
          <a:xfrm>
            <a:off x="6091515" y="374090"/>
            <a:ext cx="5057104" cy="3624984"/>
          </a:xfrm>
        </p:spPr>
        <p:txBody>
          <a:bodyPr/>
          <a:lstStyle/>
          <a:p>
            <a:r>
              <a:rPr lang="en-US" dirty="0"/>
              <a:t>Thank you</a:t>
            </a:r>
          </a:p>
        </p:txBody>
      </p:sp>
    </p:spTree>
    <p:extLst>
      <p:ext uri="{BB962C8B-B14F-4D97-AF65-F5344CB8AC3E}">
        <p14:creationId xmlns:p14="http://schemas.microsoft.com/office/powerpoint/2010/main" val="769932640"/>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045227-5724-4DBF-9712-031B1BFB2C3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22457D9-12AC-4794-A05E-F1B90FCD8D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B39BD0-040C-43BE-B0E4-512B09E8003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sales pitch</Template>
  <TotalTime>3450</TotalTime>
  <Words>356</Words>
  <Application>Microsoft Office PowerPoint</Application>
  <PresentationFormat>Widescreen</PresentationFormat>
  <Paragraphs>29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Tenorite</vt:lpstr>
      <vt:lpstr>Custom</vt:lpstr>
      <vt:lpstr>Jenson J</vt:lpstr>
      <vt:lpstr>Problem statement</vt:lpstr>
      <vt:lpstr>Proposed solution</vt:lpstr>
      <vt:lpstr>objectives </vt:lpstr>
      <vt:lpstr>Workflow</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Jenson J</dc:creator>
  <cp:lastModifiedBy>Jenson J</cp:lastModifiedBy>
  <cp:revision>9</cp:revision>
  <dcterms:created xsi:type="dcterms:W3CDTF">2026-02-03T10:53:38Z</dcterms:created>
  <dcterms:modified xsi:type="dcterms:W3CDTF">2026-02-16T13:13:56Z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